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4562865f0534258" /><Relationship Type="http://schemas.openxmlformats.org/officeDocument/2006/relationships/extended-properties" Target="/docProps/app.xml" Id="R1c81d9c41f624d77" /><Relationship Type="http://schemas.openxmlformats.org/officeDocument/2006/relationships/officeDocument" Target="/ppt/presentation.xml" Id="R68b77a8fc8ba444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aafeaa5f5064610"/>
  </p:sldMasterIdLst>
  <p:notesMasterIdLst>
    <p:notesMasterId xmlns:r="http://schemas.openxmlformats.org/officeDocument/2006/relationships" r:id="R7b680809dce04f20"/>
  </p:notesMasterIdLst>
  <p:sldIdLst>
    <p:sldId xmlns:r="http://schemas.openxmlformats.org/officeDocument/2006/relationships" id="256" r:id="Rfd92db657e2c4920"/>
    <p:sldId xmlns:r="http://schemas.openxmlformats.org/officeDocument/2006/relationships" id="257" r:id="R739871a6f3b04c4a"/>
    <p:sldId xmlns:r="http://schemas.openxmlformats.org/officeDocument/2006/relationships" id="258" r:id="Rf9aaa4418b0d441d"/>
    <p:sldId xmlns:r="http://schemas.openxmlformats.org/officeDocument/2006/relationships" id="259" r:id="R26bdf24451784cdb"/>
    <p:sldId xmlns:r="http://schemas.openxmlformats.org/officeDocument/2006/relationships" id="260" r:id="Rb4f333daee2f4d9c"/>
    <p:sldId xmlns:r="http://schemas.openxmlformats.org/officeDocument/2006/relationships" id="261" r:id="R13539cbcb673442b"/>
    <p:sldId xmlns:r="http://schemas.openxmlformats.org/officeDocument/2006/relationships" id="262" r:id="R8c67dab3751f4839"/>
    <p:sldId xmlns:r="http://schemas.openxmlformats.org/officeDocument/2006/relationships" id="263" r:id="R0bcc864fd5984c6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43bb524d956455b" /><Relationship Type="http://schemas.openxmlformats.org/officeDocument/2006/relationships/slideMaster" Target="/ppt/slideMasters/slideMaster1.xml" Id="R5aafeaa5f5064610" /><Relationship Type="http://schemas.openxmlformats.org/officeDocument/2006/relationships/notesMaster" Target="/ppt/notesMasters/notesMaster1.xml" Id="R7b680809dce04f20" /><Relationship Type="http://schemas.openxmlformats.org/officeDocument/2006/relationships/presProps" Target="/ppt/presProps.xml" Id="R648f179caa0b46c2" /><Relationship Type="http://schemas.openxmlformats.org/officeDocument/2006/relationships/tableStyles" Target="/ppt/tableStyles.xml" Id="R9eef3e43fbc7460e" /><Relationship Type="http://schemas.openxmlformats.org/officeDocument/2006/relationships/slide" Target="/ppt/slides/slide1.xml" Id="Rfd92db657e2c4920" /><Relationship Type="http://schemas.openxmlformats.org/officeDocument/2006/relationships/slide" Target="/ppt/slides/slide2.xml" Id="R739871a6f3b04c4a" /><Relationship Type="http://schemas.openxmlformats.org/officeDocument/2006/relationships/slide" Target="/ppt/slides/slide3.xml" Id="Rf9aaa4418b0d441d" /><Relationship Type="http://schemas.openxmlformats.org/officeDocument/2006/relationships/slide" Target="/ppt/slides/slide4.xml" Id="R26bdf24451784cdb" /><Relationship Type="http://schemas.openxmlformats.org/officeDocument/2006/relationships/slide" Target="/ppt/slides/slide5.xml" Id="Rb4f333daee2f4d9c" /><Relationship Type="http://schemas.openxmlformats.org/officeDocument/2006/relationships/slide" Target="/ppt/slides/slide6.xml" Id="R13539cbcb673442b" /><Relationship Type="http://schemas.openxmlformats.org/officeDocument/2006/relationships/slide" Target="/ppt/slides/slide7.xml" Id="R8c67dab3751f4839" /><Relationship Type="http://schemas.openxmlformats.org/officeDocument/2006/relationships/slide" Target="/ppt/slides/slide8.xml" Id="R0bcc864fd5984c6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f41c38de4b2457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b98bd0c94c14956" /><Relationship Type="http://schemas.openxmlformats.org/officeDocument/2006/relationships/notesMaster" Target="/ppt/notesMasters/notesMaster1.xml" Id="Re44ee48026f14a9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b21cf5cc1864f92" /><Relationship Type="http://schemas.openxmlformats.org/officeDocument/2006/relationships/notesMaster" Target="/ppt/notesMasters/notesMaster1.xml" Id="R5cf8105dc9114fb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da6f2bb8ab74fa1" /><Relationship Type="http://schemas.openxmlformats.org/officeDocument/2006/relationships/notesMaster" Target="/ppt/notesMasters/notesMaster1.xml" Id="Rf19b188c9aa54fb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f814448cb304c66" /><Relationship Type="http://schemas.openxmlformats.org/officeDocument/2006/relationships/notesMaster" Target="/ppt/notesMasters/notesMaster1.xml" Id="R4992032044ac4d6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31437d8fe7940e2" /><Relationship Type="http://schemas.openxmlformats.org/officeDocument/2006/relationships/notesMaster" Target="/ppt/notesMasters/notesMaster1.xml" Id="R1e1db232f1f14fc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555a01e3b8743cb" /><Relationship Type="http://schemas.openxmlformats.org/officeDocument/2006/relationships/notesMaster" Target="/ppt/notesMasters/notesMaster1.xml" Id="Rd163abd448584f1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39a8206f595409e" /><Relationship Type="http://schemas.openxmlformats.org/officeDocument/2006/relationships/notesMaster" Target="/ppt/notesMasters/notesMaster1.xml" Id="Rc486b7b8014c440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10addfca8bc40f5" /><Relationship Type="http://schemas.openxmlformats.org/officeDocument/2006/relationships/notesMaster" Target="/ppt/notesMasters/notesMaster1.xml" Id="Ra576641754e54e7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https://github.com/jmfeitosa/data-governance-portfolio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English recruiter overview. Public examples use synthetic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https://github.com/jmfeitosa/data-governance-portfolio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https://github.com/jmfeitosa/data-governance-portfolio/tree/main/cases/01-governance-framework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https://github.com/jmfeitosa/data-governance-portfolio/tree/main/cases/02-delivery-dashboard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https://github.com/jmfeitosa/data-governance-portfolio/tree/main/cases/03-maturity-assessment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https://github.com/jmfeitosa/data-governance-portfolio/tree/main/cases/04-access-governance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https://github.com/jmfeitosa/data-governance-portfolio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https://github.com/jmfeitosa/data-governance-portfolio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c5f9ca10c044a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d6e023fcd2a41a4" /><Relationship Type="http://schemas.openxmlformats.org/officeDocument/2006/relationships/slideLayout" Target="/ppt/slideLayouts/slideLayout1.xml" Id="Rfc8f93bb8642489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c8f93bb8642489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4fb248d65c45a7" /><Relationship Type="http://schemas.openxmlformats.org/officeDocument/2006/relationships/notesSlide" Target="/ppt/notesSlides/notesSlide1.xml" Id="R583faa3bb1084bc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1fa1002c834a08" /><Relationship Type="http://schemas.openxmlformats.org/officeDocument/2006/relationships/notesSlide" Target="/ppt/notesSlides/notesSlide2.xml" Id="R3c8cf21dafe9447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cc0c22189b45fa" /><Relationship Type="http://schemas.openxmlformats.org/officeDocument/2006/relationships/notesSlide" Target="/ppt/notesSlides/notesSlide3.xml" Id="R43108be7148c417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316b6281734f5c" /><Relationship Type="http://schemas.openxmlformats.org/officeDocument/2006/relationships/notesSlide" Target="/ppt/notesSlides/notesSlide4.xml" Id="R6dd90b9b50fb4b2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1bee4f41814e07" /><Relationship Type="http://schemas.openxmlformats.org/officeDocument/2006/relationships/notesSlide" Target="/ppt/notesSlides/notesSlide5.xml" Id="R95a75730c5874f0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d66c97a4734a8f" /><Relationship Type="http://schemas.openxmlformats.org/officeDocument/2006/relationships/notesSlide" Target="/ppt/notesSlides/notesSlide6.xml" Id="R33833d53bc18427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f0fb0f9b194b5f" /><Relationship Type="http://schemas.openxmlformats.org/officeDocument/2006/relationships/notesSlide" Target="/ppt/notesSlides/notesSlide7.xml" Id="R4a12ad13ca1f403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dffcba192b41e9" /><Relationship Type="http://schemas.openxmlformats.org/officeDocument/2006/relationships/notesSlide" Target="/ppt/notesSlides/notesSlide8.xml" Id="R817a5e314e80458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667B03-2FB4-4A03-B894-72CB27988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</a:rPr>
              <a:t>JULIANA FEITOSA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18918B-4D03-4A79-8D42-7194E9B0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10953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000" b="1">
                <a:solidFill>
                  <a:srgbClr val="171717"/>
                </a:solidFill>
              </a:defRPr>
            </a:pPr>
            <a:r>
              <a:rPr sz="6000" b="1">
                <a:solidFill>
                  <a:srgbClr val="171717"/>
                </a:solidFill>
              </a:rPr>
              <a:t>Data Governance</a:t>
            </a:r>
          </a:p>
          <a:p xmlns:a="http://schemas.openxmlformats.org/drawingml/2006/main">
            <a:pPr>
              <a:defRPr sz="6000" b="1">
                <a:solidFill>
                  <a:srgbClr val="171717"/>
                </a:solidFill>
              </a:defRPr>
            </a:pPr>
            <a:r>
              <a:rPr sz="6000" b="1">
                <a:solidFill>
                  <a:srgbClr val="171717"/>
                </a:solidFill>
              </a:rPr>
              <a:t>Portfolio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3959C9-DB51-4D84-A10F-E8C806388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012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</a:rPr>
              <a:t>Practical controls. Clear ownership.</a:t>
            </a:r>
          </a:p>
          <a:p xmlns:a="http://schemas.openxmlformats.org/drawingml/2006/main">
            <a:pPr>
              <a:defRPr sz="24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</a:rPr>
              <a:t>Evidence for better decisions.</a:t>
            </a:r>
          </a:p>
        </p:txBody>
      </p:sp>
    </p:spTree>
    <p:extLst>
      <p:ext uri="{BB962C8B-B14F-4D97-AF65-F5344CB8AC3E}">
        <p14:creationId xmlns:p14="http://schemas.microsoft.com/office/powerpoint/2010/main" val="9711918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3574B8-A516-4D7C-8603-7C8AF0635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11277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</a:rPr>
              <a:t>Four cases connect design and execution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2AB383-1DAA-4EAF-B40E-3C8E70BA0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24600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JULIANA FEITOSA  /  DATA GOVERNANCE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1D1BCA-AF85-4FFE-83E3-883F61B3E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1717"/>
                </a:solidFill>
              </a:defRPr>
            </a:pPr>
            <a:r>
              <a:rPr sz="1650" b="0">
                <a:solidFill>
                  <a:srgbClr val="171717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E21383-4656-4580-B8C0-E3A09316B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52625"/>
            <a:ext cx="338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</a:rPr>
              <a:t>01  FRAMEWORK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BDB05B-E9B7-4541-8AE9-D8BB0F2AD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952625"/>
            <a:ext cx="752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1717"/>
                </a:solidFill>
              </a:defRPr>
            </a:pPr>
            <a:r>
              <a:rPr sz="2100" b="0">
                <a:solidFill>
                  <a:srgbClr val="171717"/>
                </a:solidFill>
              </a:rPr>
              <a:t>Define ownership, classification and lifecycle controls.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097804-F366-4320-9237-6F55154A9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05125"/>
            <a:ext cx="338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</a:rPr>
              <a:t>02  DELIVERY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973B73-4A23-4477-BF29-22D01856A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905125"/>
            <a:ext cx="752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1717"/>
                </a:solidFill>
              </a:defRPr>
            </a:pPr>
            <a:r>
              <a:rPr sz="2100" b="0">
                <a:solidFill>
                  <a:srgbClr val="171717"/>
                </a:solidFill>
              </a:rPr>
              <a:t>Make progress and delivery risks visible.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818350-B7AA-44D5-A7B6-970812257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57625"/>
            <a:ext cx="338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</a:rPr>
              <a:t>03  MATURITY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65A4AE-EB81-48DA-8E52-ED0BD73C4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857625"/>
            <a:ext cx="752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1717"/>
                </a:solidFill>
              </a:defRPr>
            </a:pPr>
            <a:r>
              <a:rPr sz="2100" b="0">
                <a:solidFill>
                  <a:srgbClr val="171717"/>
                </a:solidFill>
              </a:rPr>
              <a:t>Translate evidence into gaps and priorities.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17F31F-E410-400B-B032-22B1C05C9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0125"/>
            <a:ext cx="338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</a:rPr>
              <a:t>04  ACCESS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55E087-185F-47A2-9EBE-C0AE951C2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810125"/>
            <a:ext cx="752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1717"/>
                </a:solidFill>
              </a:defRPr>
            </a:pPr>
            <a:r>
              <a:rPr sz="2100" b="0">
                <a:solidFill>
                  <a:srgbClr val="171717"/>
                </a:solidFill>
              </a:rPr>
              <a:t>Connect permission decisions to verified removal.</a:t>
            </a:r>
          </a:p>
        </p:txBody>
      </p:sp>
    </p:spTree>
    <p:extLst>
      <p:ext uri="{BB962C8B-B14F-4D97-AF65-F5344CB8AC3E}">
        <p14:creationId xmlns:p14="http://schemas.microsoft.com/office/powerpoint/2010/main" val="14073490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BFC40A-3FF1-4C8C-94A4-22E4F9272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11277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</a:rPr>
              <a:t>Make governance responsibilities usable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3425AE-2F8C-456B-A85A-E03A9B5A3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24600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JULIANA FEITOSA  /  DATA GOVERNANCE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BD2EBC-F903-4567-8E79-C0E2D4752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1717"/>
                </a:solidFill>
              </a:defRPr>
            </a:pPr>
            <a:r>
              <a:rPr sz="1650" b="0">
                <a:solidFill>
                  <a:srgbClr val="171717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417E91-2D18-44A3-B0B1-6831E582D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4307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55555"/>
                </a:solidFill>
              </a:defRPr>
            </a:pPr>
            <a:r>
              <a:rPr sz="1950" b="0">
                <a:solidFill>
                  <a:srgbClr val="555555"/>
                </a:solidFill>
              </a:rPr>
              <a:t>01 / GOVERNANCE FRAMEWORK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488BED-4CDD-4D37-9281-506E2373F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86050"/>
            <a:ext cx="342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</a:rPr>
              <a:t>Who decides?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00CBB0-18F2-4349-A767-9B6EED401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09950"/>
            <a:ext cx="338137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1717"/>
                </a:solidFill>
              </a:defRPr>
            </a:pPr>
            <a:r>
              <a:rPr sz="2100" b="0">
                <a:solidFill>
                  <a:srgbClr val="171717"/>
                </a:solidFill>
              </a:rPr>
              <a:t>RACI connects owners, stewards and custodians to decisions.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C947E1-A5AD-4BB0-AB09-CCF2476BE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686050"/>
            <a:ext cx="352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</a:rPr>
              <a:t>What is controlled?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EAB626-7D40-4298-9229-2B107B979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09950"/>
            <a:ext cx="338137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1717"/>
                </a:solidFill>
              </a:defRPr>
            </a:pPr>
            <a:r>
              <a:rPr sz="2100" b="0">
                <a:solidFill>
                  <a:srgbClr val="171717"/>
                </a:solidFill>
              </a:rPr>
              <a:t>Classification and lifecycle rules guide use, sharing and disposal.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C4585E-305D-4B0F-8029-3E17F2A84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86050"/>
            <a:ext cx="347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</a:rPr>
              <a:t>How is it checked?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D8B883-FF34-4369-8E06-E4D284E92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09950"/>
            <a:ext cx="338137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1717"/>
                </a:solidFill>
              </a:defRPr>
            </a:pPr>
            <a:r>
              <a:rPr sz="2100" b="0">
                <a:solidFill>
                  <a:srgbClr val="171717"/>
                </a:solidFill>
              </a:rPr>
              <a:t>KPI definitions make accountability and evidence reviewable.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E53602-32B4-435F-BA13-38A82FF85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768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1717"/>
                </a:solidFill>
              </a:defRPr>
            </a:pPr>
            <a:r>
              <a:rPr sz="1875" b="0">
                <a:solidFill>
                  <a:srgbClr val="171717"/>
                </a:solidFill>
              </a:rPr>
              <a:t>Published: framework, RACI, classification matrix, lifecycle and KPI catalog.</a:t>
            </a:r>
          </a:p>
        </p:txBody>
      </p:sp>
    </p:spTree>
    <p:extLst>
      <p:ext uri="{BB962C8B-B14F-4D97-AF65-F5344CB8AC3E}">
        <p14:creationId xmlns:p14="http://schemas.microsoft.com/office/powerpoint/2010/main" val="18082513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BE9AC2-4C02-4E65-993C-47E3CDBDB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11277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</a:rPr>
              <a:t>Measure delivery with consistent rules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6DCB49-150C-4687-BE5C-C4100B47D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24600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SYNTHETIC DESIGN  /  DELIVERY TEMPLATE PENDING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01709A-AFB8-4732-B6ED-FBF991697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1717"/>
                </a:solidFill>
              </a:defRPr>
            </a:pPr>
            <a:r>
              <a:rPr sz="1650" b="0">
                <a:solidFill>
                  <a:srgbClr val="171717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AC2E3F-D404-48C2-83E4-E3D04CBBF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4307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55555"/>
                </a:solidFill>
              </a:defRPr>
            </a:pPr>
            <a:r>
              <a:rPr sz="1950" b="0">
                <a:solidFill>
                  <a:srgbClr val="555555"/>
                </a:solidFill>
              </a:rPr>
              <a:t>02 / DELIVERY DASHBOARD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31FFD3-D7AB-4EE9-882A-3190990C9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3365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1717"/>
                </a:solidFill>
              </a:defRPr>
            </a:pPr>
            <a:r>
              <a:rPr sz="3000" b="1">
                <a:solidFill>
                  <a:srgbClr val="171717"/>
                </a:solidFill>
              </a:rPr>
              <a:t>A metric needs a clear denominator.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A595CC-05F6-4DF3-A463-07FBC64B2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76625"/>
            <a:ext cx="2524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</a:rPr>
              <a:t>Scope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2FB4A6-D761-4545-987B-BA28D33F2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76625"/>
            <a:ext cx="838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1717"/>
                </a:solidFill>
              </a:defRPr>
            </a:pPr>
            <a:r>
              <a:rPr sz="2100" b="0">
                <a:solidFill>
                  <a:srgbClr val="171717"/>
                </a:solidFill>
              </a:rPr>
              <a:t>Define eligible work items and normalized statuses.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B0089F-9705-46AE-86BE-8E05B1EFE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67200"/>
            <a:ext cx="2524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</a:rPr>
              <a:t>Risk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0FDDDE-5540-4070-825C-33186E5D8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267200"/>
            <a:ext cx="838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1717"/>
                </a:solidFill>
              </a:defRPr>
            </a:pPr>
            <a:r>
              <a:rPr sz="2100" b="0">
                <a:solidFill>
                  <a:srgbClr val="171717"/>
                </a:solidFill>
              </a:rPr>
              <a:t>Separate ageing, inactivity and paused work.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C8EBA2-7C5E-494F-AF4B-D12B64FFC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57775"/>
            <a:ext cx="2524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</a:rPr>
              <a:t>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ED0D6C-5F33-4280-A349-7FC778639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57775"/>
            <a:ext cx="838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1717"/>
                </a:solidFill>
              </a:defRPr>
            </a:pPr>
            <a:r>
              <a:rPr sz="2100" b="0">
                <a:solidFill>
                  <a:srgbClr val="171717"/>
                </a:solidFill>
              </a:rPr>
              <a:t>Publish the CSV, measure definitions and release checks.</a:t>
            </a:r>
          </a:p>
        </p:txBody>
      </p:sp>
    </p:spTree>
    <p:extLst>
      <p:ext uri="{BB962C8B-B14F-4D97-AF65-F5344CB8AC3E}">
        <p14:creationId xmlns:p14="http://schemas.microsoft.com/office/powerpoint/2010/main" val="13551513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3186A1-481C-48C4-A14B-725E87EF3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11277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</a:rPr>
              <a:t>Use maturity evidence to set priorities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1C6D8C-12E6-41E8-8E5A-F6D3CEE35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24600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FICTIONAL BASELINE  /  NOT A CLIENT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FA9DED-EB4D-4541-A66F-F1CA8B174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1717"/>
                </a:solidFill>
              </a:defRPr>
            </a:pPr>
            <a:r>
              <a:rPr sz="1650" b="0">
                <a:solidFill>
                  <a:srgbClr val="171717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05D726-FEBD-426F-ACAF-5110035A6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4307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55555"/>
                </a:solidFill>
              </a:defRPr>
            </a:pPr>
            <a:r>
              <a:rPr sz="1950" b="0">
                <a:solidFill>
                  <a:srgbClr val="555555"/>
                </a:solidFill>
              </a:rPr>
              <a:t>03 / MATURITY ASSESSMENT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09308D-B316-488B-BCD5-CD95DB4F9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62200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1717"/>
                </a:solidFill>
              </a:defRPr>
            </a:pPr>
            <a:r>
              <a:rPr sz="2250" b="0">
                <a:solidFill>
                  <a:srgbClr val="171717"/>
                </a:solidFill>
              </a:rPr>
              <a:t>A repeatable questionnaire links scores to evidence and an improvement roadmap.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A31FB8-4E1B-4BAA-8340-07A8FDF3D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38550"/>
            <a:ext cx="36385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171717"/>
                </a:solidFill>
              </a:defRPr>
            </a:pPr>
            <a:r>
              <a:rPr sz="4800" b="1">
                <a:solidFill>
                  <a:srgbClr val="171717"/>
                </a:solidFill>
              </a:rPr>
              <a:t>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41F368-08FE-426E-A654-50F704845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3619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1717"/>
                </a:solidFill>
              </a:defRPr>
            </a:pPr>
            <a:r>
              <a:rPr sz="2100" b="0">
                <a:solidFill>
                  <a:srgbClr val="171717"/>
                </a:solidFill>
              </a:rPr>
              <a:t>Governance domains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722C65-FC87-4A84-9AA4-6A506A708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638550"/>
            <a:ext cx="36385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171717"/>
                </a:solidFill>
              </a:defRPr>
            </a:pPr>
            <a:r>
              <a:rPr sz="4800" b="1">
                <a:solidFill>
                  <a:srgbClr val="171717"/>
                </a:solidFill>
              </a:rPr>
              <a:t>32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A3ED13-1650-418E-B9D1-F21482E47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4857750"/>
            <a:ext cx="3619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1717"/>
                </a:solidFill>
              </a:defRPr>
            </a:pPr>
            <a:r>
              <a:rPr sz="2100" b="0">
                <a:solidFill>
                  <a:srgbClr val="171717"/>
                </a:solidFill>
              </a:rPr>
              <a:t>Control questions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EF1E18-B1AC-47F3-832D-AB621C190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38550"/>
            <a:ext cx="36385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171717"/>
                </a:solidFill>
              </a:defRPr>
            </a:pPr>
            <a:r>
              <a:rPr sz="4800" b="1">
                <a:solidFill>
                  <a:srgbClr val="171717"/>
                </a:solidFill>
              </a:rPr>
              <a:t>1.75 / 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692A9A-353F-4282-B134-34D26EF08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857750"/>
            <a:ext cx="3619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1717"/>
                </a:solidFill>
              </a:defRPr>
            </a:pPr>
            <a:r>
              <a:rPr sz="2100" b="0">
                <a:solidFill>
                  <a:srgbClr val="171717"/>
                </a:solidFill>
              </a:rPr>
              <a:t>Synthetic overall score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26CF4E-EF05-425A-98D6-67043E2D8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81675"/>
            <a:ext cx="1114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1717"/>
                </a:solidFill>
              </a:defRPr>
            </a:pPr>
            <a:r>
              <a:rPr sz="1800" b="0">
                <a:solidFill>
                  <a:srgbClr val="171717"/>
                </a:solidFill>
              </a:rPr>
              <a:t>Reviewed Desktop template available. Control-level detail is in the separate CSV.</a:t>
            </a:r>
          </a:p>
        </p:txBody>
      </p:sp>
    </p:spTree>
    <p:extLst>
      <p:ext uri="{BB962C8B-B14F-4D97-AF65-F5344CB8AC3E}">
        <p14:creationId xmlns:p14="http://schemas.microsoft.com/office/powerpoint/2010/main" val="12695613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C1A71D-C6DC-44DA-A200-E81BA3F57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11277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</a:rPr>
              <a:t>A decision is not a verified removal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4DE3D5-D400-4CC8-9406-4172F5748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24600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NEW PORTFOLIO DEMONSTRATION  /  SYNTHETIC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8ACE93-EF09-4FB3-A1C1-4059E122A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1717"/>
                </a:solidFill>
              </a:defRPr>
            </a:pPr>
            <a:r>
              <a:rPr sz="1650" b="0">
                <a:solidFill>
                  <a:srgbClr val="171717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AD3AB9-EE9D-4FC7-8535-01E98009F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4307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55555"/>
                </a:solidFill>
              </a:defRPr>
            </a:pPr>
            <a:r>
              <a:rPr sz="1950" b="0">
                <a:solidFill>
                  <a:srgbClr val="555555"/>
                </a:solidFill>
              </a:rPr>
              <a:t>04 / ACCESS GOVERNANCE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0F30FE-A72A-4335-9120-FBD86192B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14625"/>
            <a:ext cx="36385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171717"/>
                </a:solidFill>
              </a:defRPr>
            </a:pPr>
            <a:r>
              <a:rPr sz="4800" b="1">
                <a:solidFill>
                  <a:srgbClr val="171717"/>
                </a:solidFill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93D4DA-ACFA-4364-BA74-6915EB6AE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14775"/>
            <a:ext cx="3619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1717"/>
                </a:solidFill>
              </a:defRPr>
            </a:pPr>
            <a:r>
              <a:rPr sz="2100" b="0">
                <a:solidFill>
                  <a:srgbClr val="171717"/>
                </a:solidFill>
              </a:rPr>
              <a:t>Entitlements reviewed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EEF44A-23EA-4F07-90F7-F7326D2F6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714625"/>
            <a:ext cx="36385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171717"/>
                </a:solidFill>
              </a:defRPr>
            </a:pPr>
            <a:r>
              <a:rPr sz="4800" b="1">
                <a:solidFill>
                  <a:srgbClr val="171717"/>
                </a:solidFill>
              </a:rPr>
              <a:t>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761F1A-FA5A-44B4-9B29-7BDE3D0F8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914775"/>
            <a:ext cx="3619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1717"/>
                </a:solidFill>
              </a:defRPr>
            </a:pPr>
            <a:r>
              <a:rPr sz="2100" b="0">
                <a:solidFill>
                  <a:srgbClr val="171717"/>
                </a:solidFill>
              </a:rPr>
              <a:t>Decisions recorded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7EB0B2-B4FD-4616-88D7-895B29905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714625"/>
            <a:ext cx="36385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171717"/>
                </a:solidFill>
              </a:defRPr>
            </a:pPr>
            <a:r>
              <a:rPr sz="4800" b="1">
                <a:solidFill>
                  <a:srgbClr val="171717"/>
                </a:solidFill>
              </a:rPr>
              <a:t>2 of 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A5FE4A-95AE-484A-AC83-E7691C88E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914775"/>
            <a:ext cx="3619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1717"/>
                </a:solidFill>
              </a:defRPr>
            </a:pPr>
            <a:r>
              <a:rPr sz="2100" b="0">
                <a:solidFill>
                  <a:srgbClr val="171717"/>
                </a:solidFill>
              </a:rPr>
              <a:t>Removals verified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B52CDA-EB99-4F59-8055-C80577599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0"/>
            <a:ext cx="11144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1717"/>
                </a:solidFill>
              </a:defRPr>
            </a:pPr>
            <a:r>
              <a:rPr sz="2400" b="1">
                <a:solidFill>
                  <a:srgbClr val="171717"/>
                </a:solidFill>
              </a:rPr>
              <a:t>One removal remains overdue; one review decision is still pending.</a:t>
            </a:r>
          </a:p>
        </p:txBody>
      </p:sp>
    </p:spTree>
    <p:extLst>
      <p:ext uri="{BB962C8B-B14F-4D97-AF65-F5344CB8AC3E}">
        <p14:creationId xmlns:p14="http://schemas.microsoft.com/office/powerpoint/2010/main" val="59569393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B924E4-EC9A-49CB-A504-C7C569322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11277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</a:rPr>
              <a:t>Inspect the work behind the claims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CC1854-B2FB-42C5-BBB9-7DED7892C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24600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JULIANA FEITOSA  /  DATA GOVERNANCE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3AA6ED-D30F-41C1-BE9E-CD85C7920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1717"/>
                </a:solidFill>
              </a:defRPr>
            </a:pPr>
            <a:r>
              <a:rPr sz="1650" b="0">
                <a:solidFill>
                  <a:srgbClr val="171717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A3BE5F-5B5D-4CC7-9C14-5F1AB2440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71675"/>
            <a:ext cx="361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</a:rPr>
              <a:t>Governance design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DC73A8-32C6-4A48-949D-D9DC9FD25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971675"/>
            <a:ext cx="7191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1717"/>
                </a:solidFill>
              </a:defRPr>
            </a:pPr>
            <a:r>
              <a:rPr sz="2100" b="0">
                <a:solidFill>
                  <a:srgbClr val="171717"/>
                </a:solidFill>
              </a:rPr>
              <a:t>Framework, roles, controls and access procedures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E1D613-97A4-4A8D-9A31-8AC1C5EBC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24175"/>
            <a:ext cx="361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</a:rPr>
              <a:t>Analytical discipline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28E3F3-6C65-4F5E-8A0F-DB86C2B9E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924175"/>
            <a:ext cx="7191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1717"/>
                </a:solidFill>
              </a:defRPr>
            </a:pPr>
            <a:r>
              <a:rPr sz="2100" b="0">
                <a:solidFill>
                  <a:srgbClr val="171717"/>
                </a:solidFill>
              </a:rPr>
              <a:t>Metric dictionaries, scoring rules and synthetic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CD066A-586E-4507-8B92-1638F0C17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76675"/>
            <a:ext cx="361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</a:rPr>
              <a:t>Technical demonstration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6C048C-C9AD-4893-BFB0-DE43671B5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876675"/>
            <a:ext cx="7191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1717"/>
                </a:solidFill>
              </a:defRPr>
            </a:pPr>
            <a:r>
              <a:rPr sz="2100" b="0">
                <a:solidFill>
                  <a:srgbClr val="171717"/>
                </a:solidFill>
              </a:rPr>
              <a:t>Reviewed maturity PBIT; Delivery design specifications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5ABC6B-1AF3-4A89-9383-709761322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29175"/>
            <a:ext cx="361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1717"/>
                </a:solidFill>
              </a:defRPr>
            </a:pPr>
            <a:r>
              <a:rPr sz="2250" b="1">
                <a:solidFill>
                  <a:srgbClr val="171717"/>
                </a:solidFill>
              </a:rPr>
              <a:t>Publication discipline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1EB1DF-6452-4710-934B-AD23886A7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829175"/>
            <a:ext cx="7191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1717"/>
                </a:solidFill>
              </a:defRPr>
            </a:pPr>
            <a:r>
              <a:rPr sz="2100" b="0">
                <a:solidFill>
                  <a:srgbClr val="171717"/>
                </a:solidFill>
              </a:rPr>
              <a:t>Synthetic examples; no claimed client performance uplift</a:t>
            </a:r>
          </a:p>
        </p:txBody>
      </p:sp>
    </p:spTree>
    <p:extLst>
      <p:ext uri="{BB962C8B-B14F-4D97-AF65-F5344CB8AC3E}">
        <p14:creationId xmlns:p14="http://schemas.microsoft.com/office/powerpoint/2010/main" val="81241515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31F480-CC30-4D5D-AC12-EFEE39087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11277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1717"/>
                </a:solidFill>
              </a:defRPr>
            </a:pPr>
            <a:r>
              <a:rPr sz="3600" b="1">
                <a:solidFill>
                  <a:srgbClr val="171717"/>
                </a:solidFill>
              </a:rPr>
              <a:t>Let’s discuss your governance priorities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12AA29-C1D1-4054-9140-5F67B4B7C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24600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JULIANA FEITOSA  /  DATA GOVERNANCE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F1F9CA-C4F9-42B7-95AB-D80D07A9A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1717"/>
                </a:solidFill>
              </a:defRPr>
            </a:pPr>
            <a:r>
              <a:rPr sz="1650" b="0">
                <a:solidFill>
                  <a:srgbClr val="171717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48FDBA-4884-4EE0-BA28-3334DFE97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144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171717"/>
                </a:solidFill>
              </a:defRPr>
            </a:pPr>
            <a:r>
              <a:rPr sz="2850" b="0">
                <a:solidFill>
                  <a:srgbClr val="171717"/>
                </a:solidFill>
              </a:rPr>
              <a:t>I bring a practical focus on ownership, measurable controls and clear documentation.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904AAB-013B-44FB-BF9B-9197E895E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67125"/>
            <a:ext cx="11049000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</a:rPr>
              <a:t>Start with the framework.</a:t>
            </a:r>
          </a:p>
          <a:p xmlns:a="http://schemas.openxmlformats.org/drawingml/2006/main">
            <a:pPr>
              <a:defRPr sz="24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</a:rPr>
              <a:t>Explore the maturity demonstration.</a:t>
            </a:r>
          </a:p>
          <a:p xmlns:a="http://schemas.openxmlformats.org/drawingml/2006/main">
            <a:pPr>
              <a:defRPr sz="2400" b="0">
                <a:solidFill>
                  <a:srgbClr val="171717"/>
                </a:solidFill>
              </a:defRPr>
            </a:pPr>
            <a:r>
              <a:rPr sz="2400" b="0">
                <a:solidFill>
                  <a:srgbClr val="171717"/>
                </a:solidFill>
              </a:rPr>
              <a:t>Discuss how the approach fits your team.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B13F5B-F070-4BC1-BB1C-60D417D43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57850"/>
            <a:ext cx="1114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1717"/>
                </a:solidFill>
              </a:defRPr>
            </a:pPr>
            <a:r>
              <a:rPr sz="2025" b="1">
                <a:solidFill>
                  <a:srgbClr val="171717"/>
                </a:solidFill>
              </a:rPr>
              <a:t>github.com/jmfeitosa/data-governance-portfolio</a:t>
            </a:r>
          </a:p>
        </p:txBody>
      </p:sp>
    </p:spTree>
    <p:extLst>
      <p:ext uri="{BB962C8B-B14F-4D97-AF65-F5344CB8AC3E}">
        <p14:creationId xmlns:p14="http://schemas.microsoft.com/office/powerpoint/2010/main" val="5117273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2026-09-06T02:19:45.4660000Z</dcterms:created>
  <dcterms:modified xsi:type="dcterms:W3CDTF">2026-09-06T02:19:45.4660000Z</dcterms:modified>
</coreProperties>
</file>